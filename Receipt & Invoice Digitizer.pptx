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8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5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05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8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1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5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16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07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20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9970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32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29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46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54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89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4AE2C6-E655-48D8-AA6C-1549424F236A}" type="datetimeFigureOut">
              <a:rPr lang="en-US" smtClean="0"/>
              <a:t>26-Feb-26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E2070-246C-44C3-B433-0B8600399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300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E6AE7-8CBD-B631-65CD-19E04B299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Receipt &amp; Invoice Digitizer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F6375-4BE2-B170-3DE7-51F4585E4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k.Leela</a:t>
            </a:r>
            <a:r>
              <a:rPr lang="en-US" b="1" dirty="0"/>
              <a:t> </a:t>
            </a:r>
            <a:r>
              <a:rPr lang="en-US" b="1" dirty="0" err="1"/>
              <a:t>krishna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87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85F4B2-ACF5-0A32-4D72-5ECDF3BA3114}"/>
              </a:ext>
            </a:extLst>
          </p:cNvPr>
          <p:cNvSpPr txBox="1"/>
          <p:nvPr/>
        </p:nvSpPr>
        <p:spPr>
          <a:xfrm>
            <a:off x="265471" y="1209368"/>
            <a:ext cx="108989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MY ROLE :</a:t>
            </a:r>
          </a:p>
          <a:p>
            <a:endParaRPr lang="en-US" b="1" dirty="0"/>
          </a:p>
          <a:p>
            <a:r>
              <a:rPr lang="en-US" sz="2000" b="1" dirty="0"/>
              <a:t>Backend  –S</a:t>
            </a:r>
            <a:r>
              <a:rPr lang="en-US" sz="2000" dirty="0"/>
              <a:t>ecurity</a:t>
            </a:r>
            <a:r>
              <a:rPr lang="en-US" sz="2000" b="1" dirty="0"/>
              <a:t>&amp; Database</a:t>
            </a:r>
          </a:p>
          <a:p>
            <a:endParaRPr lang="en-US" b="1" dirty="0"/>
          </a:p>
          <a:p>
            <a:r>
              <a:rPr lang="en-US" sz="2800" b="1" dirty="0"/>
              <a:t>My Responsibility: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 </a:t>
            </a: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6AAED07-8490-8DD9-8C11-C56991267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71" y="-47862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433F06-073E-39A6-DE94-3200E797C2B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54911" y="3475203"/>
            <a:ext cx="1087546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Database creation &amp; connection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Password hashing &amp; verification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737126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1AAFB1-275E-F992-0A1F-77DA6447A4F9}"/>
              </a:ext>
            </a:extLst>
          </p:cNvPr>
          <p:cNvSpPr txBox="1"/>
          <p:nvPr/>
        </p:nvSpPr>
        <p:spPr>
          <a:xfrm>
            <a:off x="304801" y="442452"/>
            <a:ext cx="6027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BB72E0-0CA2-56F0-5FB6-B1048B04A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60263"/>
            <a:ext cx="6409127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 authentication required secure handling of: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needed to persist even after server restart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Passwords must not be stored in plain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54243-00AC-3DEC-9F24-8742D1D5C4B5}"/>
              </a:ext>
            </a:extLst>
          </p:cNvPr>
          <p:cNvSpPr txBox="1"/>
          <p:nvPr/>
        </p:nvSpPr>
        <p:spPr>
          <a:xfrm>
            <a:off x="304801" y="3283921"/>
            <a:ext cx="59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I Implemented: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A467A-F4A4-5E9B-E501-9FE8695B34BF}"/>
              </a:ext>
            </a:extLst>
          </p:cNvPr>
          <p:cNvSpPr txBox="1"/>
          <p:nvPr/>
        </p:nvSpPr>
        <p:spPr>
          <a:xfrm>
            <a:off x="1042220" y="4023380"/>
            <a:ext cx="6096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Backend Features Added by 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SQLite database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User table creation using 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Secure password hashing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Database connection with authentication flow</a:t>
            </a:r>
          </a:p>
        </p:txBody>
      </p:sp>
    </p:spTree>
    <p:extLst>
      <p:ext uri="{BB962C8B-B14F-4D97-AF65-F5344CB8AC3E}">
        <p14:creationId xmlns:p14="http://schemas.microsoft.com/office/powerpoint/2010/main" val="156863315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1C4080-37C0-76C4-BCC2-0DFC25CE646D}"/>
              </a:ext>
            </a:extLst>
          </p:cNvPr>
          <p:cNvSpPr txBox="1"/>
          <p:nvPr/>
        </p:nvSpPr>
        <p:spPr>
          <a:xfrm>
            <a:off x="137652" y="137652"/>
            <a:ext cx="7305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Database Implementation: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47BF6-C852-13C7-3B0D-EBE5C4D2A0B4}"/>
              </a:ext>
            </a:extLst>
          </p:cNvPr>
          <p:cNvSpPr txBox="1"/>
          <p:nvPr/>
        </p:nvSpPr>
        <p:spPr>
          <a:xfrm>
            <a:off x="521110" y="660872"/>
            <a:ext cx="862289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Database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SQLite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sz="2400" b="1" dirty="0"/>
              <a:t>Why SQLite?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Lightweight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Easy to configure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Suitable for milestone and prototype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sz="2800" b="1" dirty="0"/>
              <a:t>User Data Stored: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Full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Hashed Password</a:t>
            </a:r>
          </a:p>
        </p:txBody>
      </p:sp>
    </p:spTree>
    <p:extLst>
      <p:ext uri="{BB962C8B-B14F-4D97-AF65-F5344CB8AC3E}">
        <p14:creationId xmlns:p14="http://schemas.microsoft.com/office/powerpoint/2010/main" val="222492003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DA02D9-EA0C-3D36-B160-ACCF00B6E0DC}"/>
              </a:ext>
            </a:extLst>
          </p:cNvPr>
          <p:cNvSpPr txBox="1"/>
          <p:nvPr/>
        </p:nvSpPr>
        <p:spPr>
          <a:xfrm>
            <a:off x="412955" y="226142"/>
            <a:ext cx="6951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ORM (Object Relational Mapping):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4512D-37AE-27FE-63FA-94FB946444D0}"/>
              </a:ext>
            </a:extLst>
          </p:cNvPr>
          <p:cNvSpPr txBox="1"/>
          <p:nvPr/>
        </p:nvSpPr>
        <p:spPr>
          <a:xfrm>
            <a:off x="865238" y="1130710"/>
            <a:ext cx="827876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ORM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SQL Alchemy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sz="2400" b="1" dirty="0"/>
              <a:t>Why ORM?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 need to write SQL queries manually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Python classes represent database tables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Secure and maintainable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None/>
            </a:pPr>
            <a:r>
              <a:rPr lang="en-US" sz="2400" b="1" dirty="0"/>
              <a:t>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User class → user’s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Object → Table row</a:t>
            </a:r>
          </a:p>
        </p:txBody>
      </p:sp>
    </p:spTree>
    <p:extLst>
      <p:ext uri="{BB962C8B-B14F-4D97-AF65-F5344CB8AC3E}">
        <p14:creationId xmlns:p14="http://schemas.microsoft.com/office/powerpoint/2010/main" val="43990631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EE468C-6280-FE8D-912E-2C40B09B85EB}"/>
              </a:ext>
            </a:extLst>
          </p:cNvPr>
          <p:cNvSpPr txBox="1"/>
          <p:nvPr/>
        </p:nvSpPr>
        <p:spPr>
          <a:xfrm>
            <a:off x="324465" y="285135"/>
            <a:ext cx="5093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Password Hashing: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05CCC-5964-9DEC-BC3B-95A1D5A82359}"/>
              </a:ext>
            </a:extLst>
          </p:cNvPr>
          <p:cNvSpPr txBox="1"/>
          <p:nvPr/>
        </p:nvSpPr>
        <p:spPr>
          <a:xfrm>
            <a:off x="619432" y="943898"/>
            <a:ext cx="852456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Why Hashing is Needed?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Prevents storing passwords in plain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Improves application security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None/>
            </a:pPr>
            <a:r>
              <a:rPr lang="en-US" sz="2400" b="1" dirty="0"/>
              <a:t>What I Used?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passlib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PBKDF2-SHA256 hashing algorithm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None/>
            </a:pPr>
            <a:r>
              <a:rPr lang="en-US" sz="2400" b="1" dirty="0"/>
              <a:t>How It Works?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Password → Hash → Stored in database</a:t>
            </a:r>
          </a:p>
        </p:txBody>
      </p:sp>
    </p:spTree>
    <p:extLst>
      <p:ext uri="{BB962C8B-B14F-4D97-AF65-F5344CB8AC3E}">
        <p14:creationId xmlns:p14="http://schemas.microsoft.com/office/powerpoint/2010/main" val="155753218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5D835-18F8-716E-CB76-D0D859F7C457}"/>
              </a:ext>
            </a:extLst>
          </p:cNvPr>
          <p:cNvSpPr txBox="1"/>
          <p:nvPr/>
        </p:nvSpPr>
        <p:spPr>
          <a:xfrm>
            <a:off x="304800" y="186813"/>
            <a:ext cx="4739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Packages Used: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4C8889-399E-3BA1-BD89-A06FC060D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14670"/>
              </p:ext>
            </p:extLst>
          </p:nvPr>
        </p:nvGraphicFramePr>
        <p:xfrm>
          <a:off x="511277" y="1317523"/>
          <a:ext cx="9539186" cy="4296040"/>
        </p:xfrm>
        <a:graphic>
          <a:graphicData uri="http://schemas.openxmlformats.org/drawingml/2006/table">
            <a:tbl>
              <a:tblPr/>
              <a:tblGrid>
                <a:gridCol w="4769593">
                  <a:extLst>
                    <a:ext uri="{9D8B030D-6E8A-4147-A177-3AD203B41FA5}">
                      <a16:colId xmlns:a16="http://schemas.microsoft.com/office/drawing/2014/main" val="24079515"/>
                    </a:ext>
                  </a:extLst>
                </a:gridCol>
                <a:gridCol w="4769593">
                  <a:extLst>
                    <a:ext uri="{9D8B030D-6E8A-4147-A177-3AD203B41FA5}">
                      <a16:colId xmlns:a16="http://schemas.microsoft.com/office/drawing/2014/main" val="117329286"/>
                    </a:ext>
                  </a:extLst>
                </a:gridCol>
              </a:tblGrid>
              <a:tr h="537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Package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101363"/>
                  </a:ext>
                </a:extLst>
              </a:tr>
              <a:tr h="537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FastAPI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Backend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35633"/>
                  </a:ext>
                </a:extLst>
              </a:tr>
              <a:tr h="537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SQLAlchemy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ORM &amp; DB connection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781982"/>
                  </a:ext>
                </a:extLst>
              </a:tr>
              <a:tr h="537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SQLite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0231"/>
                  </a:ext>
                </a:extLst>
              </a:tr>
              <a:tr h="537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passlib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Password hashing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743784"/>
                  </a:ext>
                </a:extLst>
              </a:tr>
              <a:tr h="537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PBKDF2-SHA256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Secure hashing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315373"/>
                  </a:ext>
                </a:extLst>
              </a:tr>
              <a:tr h="537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python-</a:t>
                      </a:r>
                      <a:r>
                        <a:rPr lang="en-US" dirty="0" err="1"/>
                        <a:t>jose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JWT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843394"/>
                  </a:ext>
                </a:extLst>
              </a:tr>
              <a:tr h="537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uvicorn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55201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D4EECE-3B3D-AC3B-CB16-E0AF8635EFCD}"/>
              </a:ext>
            </a:extLst>
          </p:cNvPr>
          <p:cNvGraphicFramePr>
            <a:graphicFrameLocks noGrp="1"/>
          </p:cNvGraphicFramePr>
          <p:nvPr/>
        </p:nvGraphicFramePr>
        <p:xfrm>
          <a:off x="5309419" y="1337187"/>
          <a:ext cx="4748981" cy="4336026"/>
        </p:xfrm>
        <a:graphic>
          <a:graphicData uri="http://schemas.openxmlformats.org/drawingml/2006/table">
            <a:tbl>
              <a:tblPr/>
              <a:tblGrid>
                <a:gridCol w="4748981">
                  <a:extLst>
                    <a:ext uri="{9D8B030D-6E8A-4147-A177-3AD203B41FA5}">
                      <a16:colId xmlns:a16="http://schemas.microsoft.com/office/drawing/2014/main" val="1756498458"/>
                    </a:ext>
                  </a:extLst>
                </a:gridCol>
              </a:tblGrid>
              <a:tr h="43360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52178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2227E6A-758E-FD83-4736-44BCB8A81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471463"/>
              </p:ext>
            </p:extLst>
          </p:nvPr>
        </p:nvGraphicFramePr>
        <p:xfrm>
          <a:off x="304800" y="1244437"/>
          <a:ext cx="208280" cy="435995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1429218888"/>
                    </a:ext>
                  </a:extLst>
                </a:gridCol>
              </a:tblGrid>
              <a:tr h="43599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449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73956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F10F22-11D1-2B3F-4E73-73E15A7E1E06}"/>
              </a:ext>
            </a:extLst>
          </p:cNvPr>
          <p:cNvSpPr txBox="1"/>
          <p:nvPr/>
        </p:nvSpPr>
        <p:spPr>
          <a:xfrm>
            <a:off x="373626" y="363794"/>
            <a:ext cx="601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Outcome: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58E43-8345-18BB-0CEC-72D2ACA0ADC8}"/>
              </a:ext>
            </a:extLst>
          </p:cNvPr>
          <p:cNvSpPr txBox="1"/>
          <p:nvPr/>
        </p:nvSpPr>
        <p:spPr>
          <a:xfrm>
            <a:off x="373626" y="914401"/>
            <a:ext cx="87703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Persistent database storage enabled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Password security ensured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DD6F2-3675-7C20-CFD1-554CE7981051}"/>
              </a:ext>
            </a:extLst>
          </p:cNvPr>
          <p:cNvSpPr txBox="1"/>
          <p:nvPr/>
        </p:nvSpPr>
        <p:spPr>
          <a:xfrm>
            <a:off x="373626" y="2546555"/>
            <a:ext cx="4670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 Contribution Summary: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00E000-CEC0-4115-EC52-6F5A7EB2CD67}"/>
              </a:ext>
            </a:extLst>
          </p:cNvPr>
          <p:cNvSpPr txBox="1"/>
          <p:nvPr/>
        </p:nvSpPr>
        <p:spPr>
          <a:xfrm>
            <a:off x="540774" y="3316934"/>
            <a:ext cx="11336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I implemented database creation, secure password hashing,.</a:t>
            </a:r>
          </a:p>
        </p:txBody>
      </p:sp>
    </p:spTree>
    <p:extLst>
      <p:ext uri="{BB962C8B-B14F-4D97-AF65-F5344CB8AC3E}">
        <p14:creationId xmlns:p14="http://schemas.microsoft.com/office/powerpoint/2010/main" val="391449489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BB25E-2637-AF21-8AD7-D691A917825C}"/>
              </a:ext>
            </a:extLst>
          </p:cNvPr>
          <p:cNvSpPr txBox="1"/>
          <p:nvPr/>
        </p:nvSpPr>
        <p:spPr>
          <a:xfrm>
            <a:off x="412955" y="285135"/>
            <a:ext cx="963561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Second Milestone – Database Enhancement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Extended database by adding a new </a:t>
            </a:r>
            <a:r>
              <a:rPr lang="en-US" sz="2800" b="1" dirty="0"/>
              <a:t>Invoice table</a:t>
            </a:r>
            <a:endParaRPr lang="en-US" sz="2800" dirty="0"/>
          </a:p>
          <a:p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Enabled storage of uploaded invoice files</a:t>
            </a:r>
          </a:p>
          <a:p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Linked invoices with users using </a:t>
            </a:r>
            <a:r>
              <a:rPr lang="en-US" sz="2800" b="1" dirty="0" err="1"/>
              <a:t>user_id</a:t>
            </a:r>
            <a:endParaRPr lang="en-US" sz="2800" dirty="0"/>
          </a:p>
          <a:p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Added automatic timestamp for each upload</a:t>
            </a:r>
          </a:p>
          <a:p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Supported invoice tracking and history feature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31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F61B41-C2BC-A19C-025F-60529052E765}"/>
              </a:ext>
            </a:extLst>
          </p:cNvPr>
          <p:cNvSpPr txBox="1"/>
          <p:nvPr/>
        </p:nvSpPr>
        <p:spPr>
          <a:xfrm>
            <a:off x="786581" y="454430"/>
            <a:ext cx="97142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Invoice Table Structure (Added in Milestone 2)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BCCF6-29CE-3CF1-DAAA-9FFD6D636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442949"/>
              </p:ext>
            </p:extLst>
          </p:nvPr>
        </p:nvGraphicFramePr>
        <p:xfrm>
          <a:off x="916500" y="1568568"/>
          <a:ext cx="8947150" cy="3554040"/>
        </p:xfrm>
        <a:graphic>
          <a:graphicData uri="http://schemas.openxmlformats.org/drawingml/2006/table">
            <a:tbl>
              <a:tblPr/>
              <a:tblGrid>
                <a:gridCol w="4473575">
                  <a:extLst>
                    <a:ext uri="{9D8B030D-6E8A-4147-A177-3AD203B41FA5}">
                      <a16:colId xmlns:a16="http://schemas.microsoft.com/office/drawing/2014/main" val="1496295631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3035104376"/>
                    </a:ext>
                  </a:extLst>
                </a:gridCol>
              </a:tblGrid>
              <a:tr h="592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733032"/>
                  </a:ext>
                </a:extLst>
              </a:tr>
              <a:tr h="592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 invoice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452258"/>
                  </a:ext>
                </a:extLst>
              </a:tr>
              <a:tr h="592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filename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Uploaded file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292176"/>
                  </a:ext>
                </a:extLst>
              </a:tr>
              <a:tr h="592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file_path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Location of stored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892175"/>
                  </a:ext>
                </a:extLst>
              </a:tr>
              <a:tr h="592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Associated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170675"/>
                  </a:ext>
                </a:extLst>
              </a:tr>
              <a:tr h="592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uploaded_at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Upload timestamp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0908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E740358-6C0D-2000-090C-B21D7F605C55}"/>
              </a:ext>
            </a:extLst>
          </p:cNvPr>
          <p:cNvSpPr txBox="1"/>
          <p:nvPr/>
        </p:nvSpPr>
        <p:spPr>
          <a:xfrm>
            <a:off x="786581" y="62189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Store invoice upload details for each user.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95D900-4891-BF70-C16E-2E7DDA7A5BE8}"/>
              </a:ext>
            </a:extLst>
          </p:cNvPr>
          <p:cNvSpPr txBox="1"/>
          <p:nvPr/>
        </p:nvSpPr>
        <p:spPr>
          <a:xfrm>
            <a:off x="786581" y="5692877"/>
            <a:ext cx="3559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Purpose:</a:t>
            </a:r>
          </a:p>
        </p:txBody>
      </p:sp>
    </p:spTree>
    <p:extLst>
      <p:ext uri="{BB962C8B-B14F-4D97-AF65-F5344CB8AC3E}">
        <p14:creationId xmlns:p14="http://schemas.microsoft.com/office/powerpoint/2010/main" val="3893282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EF01A3-24A4-535E-EFCC-F18E62EF78CF}"/>
              </a:ext>
            </a:extLst>
          </p:cNvPr>
          <p:cNvSpPr txBox="1"/>
          <p:nvPr/>
        </p:nvSpPr>
        <p:spPr>
          <a:xfrm>
            <a:off x="934064" y="533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Invoice Storage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E38E3-FA5A-3546-C905-C06518EDE761}"/>
              </a:ext>
            </a:extLst>
          </p:cNvPr>
          <p:cNvSpPr txBox="1"/>
          <p:nvPr/>
        </p:nvSpPr>
        <p:spPr>
          <a:xfrm>
            <a:off x="786581" y="1179871"/>
            <a:ext cx="8357419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3200" dirty="0"/>
              <a:t>User uploads invoice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Backend receives file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File saved in uploads folder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Invoice metadata stored in database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Upload time recorded automatically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sz="2800" b="1" dirty="0"/>
              <a:t>Flow: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Upload → Save File → Store Metadata → Database</a:t>
            </a:r>
          </a:p>
        </p:txBody>
      </p:sp>
    </p:spTree>
    <p:extLst>
      <p:ext uri="{BB962C8B-B14F-4D97-AF65-F5344CB8AC3E}">
        <p14:creationId xmlns:p14="http://schemas.microsoft.com/office/powerpoint/2010/main" val="472236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44EFB9-0A38-13BC-612B-CF46C8B3D51F}"/>
              </a:ext>
            </a:extLst>
          </p:cNvPr>
          <p:cNvSpPr txBox="1"/>
          <p:nvPr/>
        </p:nvSpPr>
        <p:spPr>
          <a:xfrm>
            <a:off x="1140540" y="843481"/>
            <a:ext cx="9075175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Outcome of Second Milestone</a:t>
            </a:r>
          </a:p>
          <a:p>
            <a:pPr>
              <a:buNone/>
            </a:pPr>
            <a:r>
              <a:rPr lang="en-US" sz="2800" b="1" dirty="0"/>
              <a:t>Content: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Database supports invoice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User-specific invoice storage implemented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Upload history tracking enabled</a:t>
            </a:r>
          </a:p>
        </p:txBody>
      </p:sp>
    </p:spTree>
    <p:extLst>
      <p:ext uri="{BB962C8B-B14F-4D97-AF65-F5344CB8AC3E}">
        <p14:creationId xmlns:p14="http://schemas.microsoft.com/office/powerpoint/2010/main" val="3236585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9B98E9-1EE1-8B53-8C44-870D36AC3084}"/>
              </a:ext>
            </a:extLst>
          </p:cNvPr>
          <p:cNvSpPr txBox="1"/>
          <p:nvPr/>
        </p:nvSpPr>
        <p:spPr>
          <a:xfrm>
            <a:off x="2271252" y="1730477"/>
            <a:ext cx="5958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96DAD2-E3AF-778A-6077-793422FA2240}"/>
              </a:ext>
            </a:extLst>
          </p:cNvPr>
          <p:cNvSpPr txBox="1">
            <a:spLocks/>
          </p:cNvSpPr>
          <p:nvPr/>
        </p:nvSpPr>
        <p:spPr>
          <a:xfrm>
            <a:off x="3966979" y="2602410"/>
            <a:ext cx="8825660" cy="165318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09901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186</TotalTime>
  <Words>384</Words>
  <Application>Microsoft Office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Courier New</vt:lpstr>
      <vt:lpstr>Wingdings</vt:lpstr>
      <vt:lpstr>Wingdings 3</vt:lpstr>
      <vt:lpstr>Ion</vt:lpstr>
      <vt:lpstr>Receipt &amp; Invoice Digitizer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leelakrishna kondapatrui</dc:creator>
  <cp:lastModifiedBy>leelakrishna kondapatrui</cp:lastModifiedBy>
  <cp:revision>5</cp:revision>
  <dcterms:created xsi:type="dcterms:W3CDTF">2026-02-09T10:00:44Z</dcterms:created>
  <dcterms:modified xsi:type="dcterms:W3CDTF">2026-02-26T07:13:53Z</dcterms:modified>
</cp:coreProperties>
</file>